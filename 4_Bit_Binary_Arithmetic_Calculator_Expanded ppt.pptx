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y Kolusu" userId="8eceb1bbedf4365e" providerId="LiveId" clId="{C8ADB7CF-C0D6-4A45-982C-574E6C9AB2ED}"/>
    <pc:docChg chg="custSel modSld sldOrd">
      <pc:chgData name="Akshay Kolusu" userId="8eceb1bbedf4365e" providerId="LiveId" clId="{C8ADB7CF-C0D6-4A45-982C-574E6C9AB2ED}" dt="2026-09-09T05:16:36.849" v="27" actId="1076"/>
      <pc:docMkLst>
        <pc:docMk/>
      </pc:docMkLst>
      <pc:sldChg chg="delSp modSp mod">
        <pc:chgData name="Akshay Kolusu" userId="8eceb1bbedf4365e" providerId="LiveId" clId="{C8ADB7CF-C0D6-4A45-982C-574E6C9AB2ED}" dt="2026-09-09T05:15:33.024" v="18" actId="1076"/>
        <pc:sldMkLst>
          <pc:docMk/>
          <pc:sldMk cId="0" sldId="256"/>
        </pc:sldMkLst>
        <pc:spChg chg="mod">
          <ac:chgData name="Akshay Kolusu" userId="8eceb1bbedf4365e" providerId="LiveId" clId="{C8ADB7CF-C0D6-4A45-982C-574E6C9AB2ED}" dt="2026-09-09T05:15:18.341" v="1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kshay Kolusu" userId="8eceb1bbedf4365e" providerId="LiveId" clId="{C8ADB7CF-C0D6-4A45-982C-574E6C9AB2ED}" dt="2026-09-09T05:15:33.024" v="18" actId="1076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kshay Kolusu" userId="8eceb1bbedf4365e" providerId="LiveId" clId="{C8ADB7CF-C0D6-4A45-982C-574E6C9AB2ED}" dt="2026-09-09T05:12:42.270" v="13" actId="47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kshay Kolusu" userId="8eceb1bbedf4365e" providerId="LiveId" clId="{C8ADB7CF-C0D6-4A45-982C-574E6C9AB2ED}" dt="2026-09-02T04:55:12.001" v="0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kshay Kolusu" userId="8eceb1bbedf4365e" providerId="LiveId" clId="{C8ADB7CF-C0D6-4A45-982C-574E6C9AB2ED}" dt="2026-09-09T05:12:23.918" v="12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Akshay Kolusu" userId="8eceb1bbedf4365e" providerId="LiveId" clId="{C8ADB7CF-C0D6-4A45-982C-574E6C9AB2ED}" dt="2026-09-09T05:15:06.166" v="15" actId="1076"/>
          <ac:spMkLst>
            <pc:docMk/>
            <pc:sldMk cId="0" sldId="256"/>
            <ac:spMk id="20" creationId="{00000000-0000-0000-0000-000000000000}"/>
          </ac:spMkLst>
        </pc:spChg>
      </pc:sldChg>
      <pc:sldChg chg="modSp mod ord">
        <pc:chgData name="Akshay Kolusu" userId="8eceb1bbedf4365e" providerId="LiveId" clId="{C8ADB7CF-C0D6-4A45-982C-574E6C9AB2ED}" dt="2026-09-09T04:52:42.171" v="5" actId="14100"/>
        <pc:sldMkLst>
          <pc:docMk/>
          <pc:sldMk cId="0" sldId="257"/>
        </pc:sldMkLst>
        <pc:spChg chg="mod">
          <ac:chgData name="Akshay Kolusu" userId="8eceb1bbedf4365e" providerId="LiveId" clId="{C8ADB7CF-C0D6-4A45-982C-574E6C9AB2ED}" dt="2026-09-09T04:52:42.171" v="5" actId="14100"/>
          <ac:spMkLst>
            <pc:docMk/>
            <pc:sldMk cId="0" sldId="257"/>
            <ac:spMk id="23" creationId="{00000000-0000-0000-0000-000000000000}"/>
          </ac:spMkLst>
        </pc:spChg>
      </pc:sldChg>
      <pc:sldChg chg="modSp mod ord">
        <pc:chgData name="Akshay Kolusu" userId="8eceb1bbedf4365e" providerId="LiveId" clId="{C8ADB7CF-C0D6-4A45-982C-574E6C9AB2ED}" dt="2026-09-09T05:16:36.849" v="27" actId="1076"/>
        <pc:sldMkLst>
          <pc:docMk/>
          <pc:sldMk cId="0" sldId="258"/>
        </pc:sldMkLst>
        <pc:spChg chg="mod">
          <ac:chgData name="Akshay Kolusu" userId="8eceb1bbedf4365e" providerId="LiveId" clId="{C8ADB7CF-C0D6-4A45-982C-574E6C9AB2ED}" dt="2026-09-09T05:16:36.849" v="27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kshay Kolusu" userId="8eceb1bbedf4365e" providerId="LiveId" clId="{C8ADB7CF-C0D6-4A45-982C-574E6C9AB2ED}" dt="2026-09-09T05:16:15.625" v="22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kshay Kolusu" userId="8eceb1bbedf4365e" providerId="LiveId" clId="{C8ADB7CF-C0D6-4A45-982C-574E6C9AB2ED}" dt="2026-09-09T05:16:29.180" v="25" actId="1076"/>
          <ac:spMkLst>
            <pc:docMk/>
            <pc:sldMk cId="0" sldId="258"/>
            <ac:spMk id="33" creationId="{00000000-0000-0000-0000-000000000000}"/>
          </ac:spMkLst>
        </pc:spChg>
        <pc:cxnChg chg="mod">
          <ac:chgData name="Akshay Kolusu" userId="8eceb1bbedf4365e" providerId="LiveId" clId="{C8ADB7CF-C0D6-4A45-982C-574E6C9AB2ED}" dt="2026-09-09T05:16:25.272" v="24" actId="1076"/>
          <ac:cxnSpMkLst>
            <pc:docMk/>
            <pc:sldMk cId="0" sldId="258"/>
            <ac:cxnSpMk id="26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61" y="-4572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32C8D7"/>
                </a:solidFill>
                <a:latin typeface="Aptos"/>
              </a:rPr>
              <a:t>DIGITAL LOGIC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400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5F8FC"/>
                </a:solidFill>
                <a:latin typeface="Aptos"/>
              </a:rPr>
              <a:t>Design and Simulation of a</a:t>
            </a:r>
            <a:br/>
            <a:r>
              <a:rPr sz="3100" b="1">
                <a:solidFill>
                  <a:srgbClr val="F5F8FC"/>
                </a:solidFill>
                <a:latin typeface="Aptos"/>
              </a:rPr>
              <a:t>4-Bit Binary Arithmetic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5989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C3DC"/>
                </a:solidFill>
                <a:latin typeface="Aptos"/>
              </a:rPr>
              <a:t>A compact digital system that accepts two 4-bit binary numbers and performs arithmetic operations using combinational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78DC"/>
                </a:solidFill>
                <a:latin typeface="Aptos"/>
              </a:rPr>
              <a:t>KEY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26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Binary inputs  →  Arithmetic logic  →  Binary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3DC"/>
                </a:solidFill>
                <a:latin typeface="Aptos"/>
              </a:rPr>
              <a:t>4-BIT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218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2C8D7"/>
                </a:solidFill>
                <a:latin typeface="Aptos"/>
              </a:rPr>
              <a:t>0000₂ to 1111₂  |  0 to 15₁₀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7587" y="540871"/>
            <a:ext cx="4160520" cy="5212080"/>
          </a:xfrm>
          <a:prstGeom prst="roundRect">
            <a:avLst/>
          </a:prstGeom>
          <a:solidFill>
            <a:srgbClr val="101D35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1051560"/>
            <a:ext cx="3794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32C8D7"/>
                </a:solidFill>
                <a:latin typeface="Aptos"/>
              </a:rPr>
              <a:t>CIRCUIT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828800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4-BIT ARITHMETIC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6740" y="2263140"/>
            <a:ext cx="2697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2C8D7"/>
                </a:solidFill>
                <a:latin typeface="Aptos"/>
              </a:rPr>
              <a:t>0101   +   0011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063240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3154680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3063240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31770" y="3146911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3496" y="3063240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01784" y="3154680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41864" y="3063240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41864" y="3154680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3721608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381304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25128" y="3721608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25128" y="381304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83496" y="3721608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83496" y="381304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3721608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41864" y="3813048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4805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4BC382"/>
                </a:solidFill>
                <a:latin typeface="Aptos"/>
              </a:rPr>
              <a:t>RESULT  =  1000₂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1033" y="64008"/>
            <a:ext cx="13559263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1. Introduction, Need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C3DC"/>
                </a:solidFill>
                <a:latin typeface="Aptos"/>
              </a:rPr>
              <a:t>Why a 4-bit arithmetic calculator is useful in digital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6446520" cy="4892040"/>
          </a:xfrm>
          <a:prstGeom prst="roundRect">
            <a:avLst/>
          </a:prstGeom>
          <a:solidFill>
            <a:srgbClr val="162644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C8D7"/>
                </a:solidFill>
                <a:latin typeface="Aptos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5806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Digital systems represent numbers using binary bits. A 4-bit arithmetic calculator demonstrates how simple logic gates can be combined to perform useful numerical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78DC"/>
                </a:solidFill>
                <a:latin typeface="Aptos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56432"/>
            <a:ext cx="5669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4C3DC"/>
                </a:solidFill>
                <a:latin typeface="Aptos"/>
              </a:rPr>
              <a:t>• Take two 4-bit inputs A and B.</a:t>
            </a:r>
            <a:br/>
            <a:r>
              <a:rPr sz="1400" b="0">
                <a:solidFill>
                  <a:srgbClr val="B4C3DC"/>
                </a:solidFill>
                <a:latin typeface="Aptos"/>
              </a:rPr>
              <a:t>• Select an arithmetic operation.</a:t>
            </a:r>
            <a:br/>
            <a:r>
              <a:rPr sz="1400" b="0">
                <a:solidFill>
                  <a:srgbClr val="B4C3DC"/>
                </a:solidFill>
                <a:latin typeface="Aptos"/>
              </a:rPr>
              <a:t>• Generate a 4-bit result.</a:t>
            </a:r>
            <a:br/>
            <a:r>
              <a:rPr sz="1400" b="0">
                <a:solidFill>
                  <a:srgbClr val="B4C3DC"/>
                </a:solidFill>
                <a:latin typeface="Aptos"/>
              </a:rPr>
              <a:t>• Monitor carry-out or borrow/overflow.</a:t>
            </a:r>
            <a:br/>
            <a:r>
              <a:rPr sz="1400" b="0">
                <a:solidFill>
                  <a:srgbClr val="B4C3DC"/>
                </a:solidFill>
                <a:latin typeface="Aptos"/>
              </a:rPr>
              <a:t>• Verify the circuit using simulation and test cases.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BC382"/>
                </a:solidFill>
                <a:latin typeface="Aptos"/>
              </a:rPr>
              <a:t>DESIGN 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864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The circuit should be modular, easy to test, and expandable to larger bit widths.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325880"/>
            <a:ext cx="6689376" cy="4892040"/>
          </a:xfrm>
          <a:prstGeom prst="roundRect">
            <a:avLst/>
          </a:prstGeom>
          <a:solidFill>
            <a:srgbClr val="101D35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39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C8D7"/>
                </a:solidFill>
                <a:latin typeface="Aptos"/>
              </a:rPr>
              <a:t>CIRCUIT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560320"/>
            <a:ext cx="1234440" cy="868680"/>
          </a:xfrm>
          <a:prstGeom prst="roundRect">
            <a:avLst/>
          </a:prstGeom>
          <a:solidFill>
            <a:srgbClr val="1F3457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276148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A[3:0]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114800"/>
            <a:ext cx="1234440" cy="868680"/>
          </a:xfrm>
          <a:prstGeom prst="roundRect">
            <a:avLst/>
          </a:prstGeom>
          <a:solidFill>
            <a:srgbClr val="1F3457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431596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B[3:0]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54312" y="3168396"/>
            <a:ext cx="1234440" cy="868680"/>
          </a:xfrm>
          <a:prstGeom prst="roundRect">
            <a:avLst/>
          </a:prstGeom>
          <a:solidFill>
            <a:srgbClr val="1F3457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3485758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5F8FC"/>
                </a:solidFill>
                <a:latin typeface="Aptos"/>
              </a:rPr>
              <a:t>CONTOL</a:t>
            </a:r>
            <a:r>
              <a:rPr lang="en-IN" sz="1200" b="1" dirty="0">
                <a:solidFill>
                  <a:srgbClr val="F5F8FC"/>
                </a:solidFill>
                <a:latin typeface="Aptos"/>
              </a:rPr>
              <a:t>R</a:t>
            </a:r>
            <a:endParaRPr sz="12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1018520" y="3017520"/>
            <a:ext cx="1234440" cy="868680"/>
          </a:xfrm>
          <a:prstGeom prst="roundRect">
            <a:avLst/>
          </a:prstGeom>
          <a:solidFill>
            <a:srgbClr val="1F3457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18520" y="321868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4-BIT</a:t>
            </a:r>
            <a:br/>
            <a:r>
              <a:rPr sz="1200" b="1">
                <a:solidFill>
                  <a:srgbClr val="F5F8FC"/>
                </a:solidFill>
                <a:latin typeface="Aptos"/>
              </a:rPr>
              <a:t>ADDER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82728" y="2948940"/>
            <a:ext cx="1234440" cy="868680"/>
          </a:xfrm>
          <a:prstGeom prst="roundRect">
            <a:avLst/>
          </a:prstGeom>
          <a:solidFill>
            <a:srgbClr val="1F3457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657311" y="3307449"/>
            <a:ext cx="13401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5F8FC"/>
                </a:solidFill>
                <a:latin typeface="Aptos"/>
              </a:rPr>
              <a:t>RESULT</a:t>
            </a:r>
          </a:p>
        </p:txBody>
      </p:sp>
      <p:cxnSp>
        <p:nvCxnSpPr>
          <p:cNvPr id="24" name="Connector 23"/>
          <p:cNvCxnSpPr>
            <a:cxnSpLocks/>
          </p:cNvCxnSpPr>
          <p:nvPr/>
        </p:nvCxnSpPr>
        <p:spPr>
          <a:xfrm>
            <a:off x="9006840" y="2990088"/>
            <a:ext cx="1997964" cy="155448"/>
          </a:xfrm>
          <a:prstGeom prst="line">
            <a:avLst/>
          </a:prstGeom>
          <a:ln w="2794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 flipV="1">
            <a:off x="9038844" y="3840481"/>
            <a:ext cx="1965960" cy="795527"/>
          </a:xfrm>
          <a:prstGeom prst="line">
            <a:avLst/>
          </a:prstGeom>
          <a:ln w="2794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07040" y="3584448"/>
            <a:ext cx="411480" cy="0"/>
          </a:xfrm>
          <a:prstGeom prst="line">
            <a:avLst/>
          </a:prstGeom>
          <a:ln w="2794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252960" y="3447287"/>
            <a:ext cx="429768" cy="0"/>
          </a:xfrm>
          <a:prstGeom prst="line">
            <a:avLst/>
          </a:prstGeom>
          <a:ln w="2794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185648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2. Circuit Design &amp; Working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C3DC"/>
                </a:solidFill>
                <a:latin typeface="Aptos"/>
              </a:rPr>
              <a:t>The calculator is built from full adders, XOR logic and control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6446520" cy="4937760"/>
          </a:xfrm>
          <a:prstGeom prst="roundRect">
            <a:avLst/>
          </a:prstGeom>
          <a:solidFill>
            <a:srgbClr val="162644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C8D7"/>
                </a:solidFill>
                <a:latin typeface="Aptos"/>
              </a:rPr>
              <a:t>MAIN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78DC"/>
                </a:solidFill>
                <a:latin typeface="Aptos"/>
              </a:rPr>
              <a:t>1. INPUT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039112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A[3:0] and B[3:0] hold the two binary operands.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78DC"/>
                </a:solidFill>
                <a:latin typeface="Aptos"/>
              </a:rPr>
              <a:t>2. OPERATION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843784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A control bit selects addition or subtraction.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667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78DC"/>
                </a:solidFill>
                <a:latin typeface="Aptos"/>
              </a:rPr>
              <a:t>3. ADDER / SUBTRACTOR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648456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Four full-adder stages process one bit at a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714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78DC"/>
                </a:solidFill>
                <a:latin typeface="Aptos"/>
              </a:rPr>
              <a:t>4. OUTPUT &amp;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453128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R[3:0] gives the result; COUT indicates final carry.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218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46"/>
                </a:solidFill>
                <a:latin typeface="Aptos"/>
              </a:rPr>
              <a:t>SUBTRACTION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52852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A − B = A + (~B) + 1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2340" y="1303019"/>
            <a:ext cx="5390388" cy="4983481"/>
          </a:xfrm>
          <a:prstGeom prst="roundRect">
            <a:avLst/>
          </a:prstGeom>
          <a:solidFill>
            <a:srgbClr val="101D35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543800" y="1463039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C8D7"/>
                </a:solidFill>
                <a:latin typeface="Aptos"/>
              </a:rPr>
              <a:t>CIRCUIT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834639"/>
            <a:ext cx="914400" cy="1143000"/>
          </a:xfrm>
          <a:prstGeom prst="roundRect">
            <a:avLst/>
          </a:prstGeom>
          <a:solidFill>
            <a:srgbClr val="1F3457"/>
          </a:solidFill>
          <a:ln>
            <a:solidFill>
              <a:srgbClr val="32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2990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FA0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2918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4C3DC"/>
                </a:solidFill>
                <a:latin typeface="Aptos"/>
              </a:rPr>
              <a:t>SUM</a:t>
            </a:r>
            <a:br/>
            <a:r>
              <a:rPr sz="1000" b="1">
                <a:solidFill>
                  <a:srgbClr val="B4C3DC"/>
                </a:solidFill>
                <a:latin typeface="Aptos"/>
              </a:rPr>
              <a:t>CARRY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0" y="3410711"/>
            <a:ext cx="320040" cy="0"/>
          </a:xfrm>
          <a:prstGeom prst="line">
            <a:avLst/>
          </a:prstGeom>
          <a:ln w="31750">
            <a:solidFill>
              <a:srgbClr val="F5A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98280" y="2834639"/>
            <a:ext cx="914400" cy="1143000"/>
          </a:xfrm>
          <a:prstGeom prst="roundRect">
            <a:avLst/>
          </a:prstGeom>
          <a:solidFill>
            <a:srgbClr val="1F3457"/>
          </a:solidFill>
          <a:ln>
            <a:solidFill>
              <a:srgbClr val="32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2990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5F8FC"/>
                </a:solidFill>
                <a:latin typeface="Aptos"/>
              </a:rPr>
              <a:t>FA1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2918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4C3DC"/>
                </a:solidFill>
                <a:latin typeface="Aptos"/>
              </a:rPr>
              <a:t>SUM</a:t>
            </a:r>
            <a:br/>
            <a:r>
              <a:rPr sz="1000" b="1">
                <a:solidFill>
                  <a:srgbClr val="B4C3DC"/>
                </a:solidFill>
                <a:latin typeface="Aptos"/>
              </a:rPr>
              <a:t>CARRY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666161" y="3493008"/>
            <a:ext cx="320040" cy="0"/>
          </a:xfrm>
          <a:prstGeom prst="line">
            <a:avLst/>
          </a:prstGeom>
          <a:ln w="31750">
            <a:solidFill>
              <a:srgbClr val="F5A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332720" y="2834639"/>
            <a:ext cx="914400" cy="1143000"/>
          </a:xfrm>
          <a:prstGeom prst="roundRect">
            <a:avLst/>
          </a:prstGeom>
          <a:solidFill>
            <a:srgbClr val="1F3457"/>
          </a:solidFill>
          <a:ln>
            <a:solidFill>
              <a:srgbClr val="32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20" y="2990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FA2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2918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4C3DC"/>
                </a:solidFill>
                <a:latin typeface="Aptos"/>
              </a:rPr>
              <a:t>SUM</a:t>
            </a:r>
            <a:br/>
            <a:r>
              <a:rPr sz="1000" b="1">
                <a:solidFill>
                  <a:srgbClr val="B4C3DC"/>
                </a:solidFill>
                <a:latin typeface="Aptos"/>
              </a:rPr>
              <a:t>CARRY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247120" y="3410711"/>
            <a:ext cx="320040" cy="0"/>
          </a:xfrm>
          <a:prstGeom prst="line">
            <a:avLst/>
          </a:prstGeom>
          <a:ln w="31750">
            <a:solidFill>
              <a:srgbClr val="F5A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1567160" y="2834639"/>
            <a:ext cx="914400" cy="1143000"/>
          </a:xfrm>
          <a:prstGeom prst="roundRect">
            <a:avLst/>
          </a:prstGeom>
          <a:solidFill>
            <a:srgbClr val="1F3457"/>
          </a:solidFill>
          <a:ln>
            <a:solidFill>
              <a:srgbClr val="32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567160" y="29900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FA3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5895" y="32918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4C3DC"/>
                </a:solidFill>
                <a:latin typeface="Aptos"/>
              </a:rPr>
              <a:t>SUM</a:t>
            </a:r>
            <a:br/>
            <a:r>
              <a:rPr sz="1000" b="1">
                <a:solidFill>
                  <a:srgbClr val="B4C3DC"/>
                </a:solidFill>
                <a:latin typeface="Aptos"/>
              </a:rPr>
              <a:t>CARRY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32644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C3DC"/>
                </a:solidFill>
                <a:latin typeface="Aptos"/>
              </a:rPr>
              <a:t>C₀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4297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C3DC"/>
                </a:solidFill>
                <a:latin typeface="Aptos"/>
              </a:rPr>
              <a:t>C₄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3. Simulation, Test Cases &amp;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C3DC"/>
                </a:solidFill>
                <a:latin typeface="Aptos"/>
              </a:rPr>
              <a:t>Simulation confirms that the logic produces the expected binary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6446520" cy="4937760"/>
          </a:xfrm>
          <a:prstGeom prst="roundRect">
            <a:avLst/>
          </a:prstGeom>
          <a:solidFill>
            <a:srgbClr val="162644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C8D7"/>
                </a:solidFill>
                <a:latin typeface="Aptos"/>
              </a:rPr>
              <a:t>EXAMPLE 1 — ADDITION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A = 0101₂ = 5₁₀</a:t>
            </a:r>
            <a:br/>
            <a:r>
              <a:rPr sz="1800" b="1">
                <a:solidFill>
                  <a:srgbClr val="F5F8FC"/>
                </a:solidFill>
                <a:latin typeface="Aptos"/>
              </a:rPr>
              <a:t>B = 0011₂ = 3₁₀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0101</a:t>
            </a:r>
            <a:br/>
            <a:r>
              <a:rPr sz="1900" b="1">
                <a:solidFill>
                  <a:srgbClr val="F5F8FC"/>
                </a:solidFill>
                <a:latin typeface="Aptos"/>
              </a:rPr>
              <a:t>+0011</a:t>
            </a:r>
            <a:br/>
            <a:r>
              <a:rPr sz="1900" b="1">
                <a:solidFill>
                  <a:srgbClr val="F5F8FC"/>
                </a:solidFill>
                <a:latin typeface="Aptos"/>
              </a:rPr>
              <a:t>─────</a:t>
            </a:r>
            <a:br/>
            <a:r>
              <a:rPr sz="1900" b="1">
                <a:solidFill>
                  <a:srgbClr val="F5F8FC"/>
                </a:solidFill>
                <a:latin typeface="Aptos"/>
              </a:rPr>
              <a:t>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31012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BC382"/>
                </a:solidFill>
                <a:latin typeface="Aptos"/>
              </a:rPr>
              <a:t>Therefore: 5 + 3 = 8</a:t>
            </a:r>
            <a:br/>
            <a:r>
              <a:rPr sz="1700" b="1">
                <a:solidFill>
                  <a:srgbClr val="4BC382"/>
                </a:solidFill>
                <a:latin typeface="Aptos"/>
              </a:rPr>
              <a:t>Result = 1000₂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046"/>
                </a:solidFill>
                <a:latin typeface="Aptos"/>
              </a:rPr>
              <a:t>EXAMPLE 2 — SUBTRACTION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937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0110₂ − 0010₂ = 0100₂  (6 − 2 =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C3DC"/>
                </a:solidFill>
                <a:latin typeface="Aptos"/>
              </a:rPr>
              <a:t>TESTING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6967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3DC"/>
                </a:solidFill>
                <a:latin typeface="Aptos"/>
              </a:rPr>
              <a:t>Normal result • zero • carry • subtraction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325880"/>
            <a:ext cx="4251960" cy="4937760"/>
          </a:xfrm>
          <a:prstGeom prst="roundRect">
            <a:avLst/>
          </a:prstGeom>
          <a:solidFill>
            <a:srgbClr val="101D35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1463039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C8D7"/>
                </a:solidFill>
                <a:latin typeface="Aptos"/>
              </a:rPr>
              <a:t>CIRCUIT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240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C3DC"/>
                </a:solidFill>
                <a:latin typeface="Aptos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834639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C3DC"/>
                </a:solidFill>
                <a:latin typeface="Aptos"/>
              </a:rPr>
              <a:t>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4290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C3DC"/>
                </a:solidFill>
                <a:latin typeface="Aptos"/>
              </a:rPr>
              <a:t>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02336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C3DC"/>
                </a:solidFill>
                <a:latin typeface="Aptos"/>
              </a:rPr>
              <a:t>R0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138160" y="2212847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56320" y="2212847"/>
            <a:ext cx="518160" cy="0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74480" y="2212847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692640" y="2212847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10800" y="2212847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728960" y="2212847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138160" y="280720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56320" y="2807208"/>
            <a:ext cx="518160" cy="0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74480" y="280720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692640" y="280720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10800" y="280720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728960" y="280720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138160" y="340156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656320" y="3401568"/>
            <a:ext cx="518160" cy="0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174480" y="340156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692640" y="340156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210800" y="340156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728960" y="340156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138160" y="399592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56320" y="3995928"/>
            <a:ext cx="518160" cy="0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74480" y="399592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692640" y="399592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210800" y="399592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728960" y="3995928"/>
            <a:ext cx="518160" cy="237744"/>
          </a:xfrm>
          <a:prstGeom prst="line">
            <a:avLst/>
          </a:prstGeom>
          <a:ln w="25400">
            <a:solidFill>
              <a:srgbClr val="32C8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378440" y="49834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B4C3DC"/>
                </a:solidFill>
                <a:latin typeface="Aptos"/>
              </a:rPr>
              <a:t>TIME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4. Results, Applications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4C3DC"/>
                </a:solidFill>
                <a:latin typeface="Aptos"/>
              </a:rPr>
              <a:t>What the completed design demonstrates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6446520" cy="5129784"/>
          </a:xfrm>
          <a:prstGeom prst="roundRect">
            <a:avLst/>
          </a:prstGeom>
          <a:solidFill>
            <a:srgbClr val="162644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2C8D7"/>
                </a:solidFill>
                <a:latin typeface="Aptos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5669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✓ Correctly processes two 4-bit operands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✓ Supports addition and subtraction logic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✓ Produces a 4-bit binary output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✓ Carry/borrow behavior can be observed</a:t>
            </a:r>
            <a:br/>
            <a:r>
              <a:rPr sz="1400" b="0">
                <a:solidFill>
                  <a:srgbClr val="F5F8FC"/>
                </a:solidFill>
                <a:latin typeface="Aptos"/>
              </a:rPr>
              <a:t>✓ Simulation makes errors easy to 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78DC"/>
                </a:solidFill>
                <a:latin typeface="Aptos"/>
              </a:rPr>
              <a:t>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79392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B4C3DC"/>
                </a:solidFill>
                <a:latin typeface="Aptos"/>
              </a:rPr>
              <a:t>• Arithmetic Logic Units (ALUs)</a:t>
            </a:r>
            <a:br>
              <a:rPr dirty="0"/>
            </a:br>
            <a:r>
              <a:rPr sz="1400" b="0" dirty="0">
                <a:solidFill>
                  <a:srgbClr val="B4C3DC"/>
                </a:solidFill>
                <a:latin typeface="Aptos"/>
              </a:rPr>
              <a:t>• Digital calculators and counters</a:t>
            </a:r>
            <a:br>
              <a:rPr dirty="0"/>
            </a:br>
            <a:r>
              <a:rPr sz="1400" b="0" dirty="0">
                <a:solidFill>
                  <a:srgbClr val="B4C3DC"/>
                </a:solidFill>
                <a:latin typeface="Aptos"/>
              </a:rPr>
              <a:t>• Microprocessor </a:t>
            </a:r>
            <a:r>
              <a:rPr sz="1400" b="0" dirty="0" err="1">
                <a:solidFill>
                  <a:srgbClr val="B4C3DC"/>
                </a:solidFill>
                <a:latin typeface="Aptos"/>
              </a:rPr>
              <a:t>datapaths</a:t>
            </a:r>
            <a:br>
              <a:rPr dirty="0"/>
            </a:br>
            <a:r>
              <a:rPr sz="1400" b="0" dirty="0">
                <a:solidFill>
                  <a:srgbClr val="B4C3DC"/>
                </a:solidFill>
                <a:latin typeface="Aptos"/>
              </a:rPr>
              <a:t>• Embedded digital systems</a:t>
            </a:r>
            <a:br>
              <a:rPr dirty="0"/>
            </a:br>
            <a:r>
              <a:rPr sz="1400" b="0" dirty="0">
                <a:solidFill>
                  <a:srgbClr val="B4C3DC"/>
                </a:solidFill>
                <a:latin typeface="Aptos"/>
              </a:rPr>
              <a:t>• Digital electronics laboratories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15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BC382"/>
                </a:solidFill>
                <a:latin typeface="Aptos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56509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5F8FC"/>
                </a:solidFill>
                <a:latin typeface="Aptos"/>
              </a:rPr>
              <a:t>The 4-bit calculator shows how basic combinational blocks can be integrated into a practical arithmetic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325880"/>
            <a:ext cx="4251960" cy="4937760"/>
          </a:xfrm>
          <a:prstGeom prst="roundRect">
            <a:avLst/>
          </a:prstGeom>
          <a:solidFill>
            <a:srgbClr val="101D35"/>
          </a:solidFill>
          <a:ln>
            <a:solidFill>
              <a:srgbClr val="304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39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C8D7"/>
                </a:solidFill>
                <a:latin typeface="Aptos"/>
              </a:rPr>
              <a:t>CIRCUIT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11680"/>
            <a:ext cx="3246120" cy="3703320"/>
          </a:xfrm>
          <a:prstGeom prst="roundRect">
            <a:avLst/>
          </a:prstGeom>
          <a:solidFill>
            <a:srgbClr val="1D3152"/>
          </a:solidFill>
          <a:ln>
            <a:solidFill>
              <a:srgbClr val="32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224028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4-BIT ARITHMETIC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2C8D7"/>
                </a:solidFill>
                <a:latin typeface="Aptos"/>
              </a:rPr>
              <a:t>0101   +   0011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474720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3566160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3474720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33688" y="3566160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92056" y="3474720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92056" y="3566160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50424" y="3474720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50424" y="3566160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133087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4224527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33688" y="4133087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33688" y="4224527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2056" y="4133087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92056" y="4224527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50424" y="4133087"/>
            <a:ext cx="530352" cy="457200"/>
          </a:xfrm>
          <a:prstGeom prst="roundRect">
            <a:avLst/>
          </a:prstGeom>
          <a:solidFill>
            <a:srgbClr val="253E64"/>
          </a:solidFill>
          <a:ln>
            <a:solidFill>
              <a:srgbClr val="34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50424" y="4224527"/>
            <a:ext cx="530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8920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BC382"/>
                </a:solidFill>
                <a:latin typeface="Aptos"/>
              </a:rPr>
              <a:t>RESULT  =  1000₂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525</Words>
  <Application>Microsoft Office PowerPoint</Application>
  <PresentationFormat>Widescreen</PresentationFormat>
  <Paragraphs>93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Harish Reddy</dc:creator>
  <cp:keywords/>
  <dc:description>generated using python-pptx</dc:description>
  <cp:lastModifiedBy>Harish Reddy</cp:lastModifiedBy>
  <cp:revision>2</cp:revision>
  <dcterms:created xsi:type="dcterms:W3CDTF">2013-01-27T09:14:16Z</dcterms:created>
  <dcterms:modified xsi:type="dcterms:W3CDTF">2026-09-09T05:30:53Z</dcterms:modified>
  <cp:category/>
</cp:coreProperties>
</file>